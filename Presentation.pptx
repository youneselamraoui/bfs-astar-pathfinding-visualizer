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5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5E"/>
                </a:solidFill>
                <a:latin typeface="+mn-lt"/>
              </a:rPr>
              <a:t>Nœuds explorés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BFS</c:v>
                </c:pt>
              </c:strCache>
            </c:strRef>
          </c:tx>
          <c:spPr>
            <a:solidFill>
              <a:srgbClr val="1BB5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5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20×20</c:v>
                  </c:pt>
                  <c:pt idx="1">
                    <c:v>30×30</c:v>
                  </c:pt>
                  <c:pt idx="2">
                    <c:v>50×50</c:v>
                  </c:pt>
                  <c:pt idx="3">
                    <c:v>100×100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311</c:v>
                </c:pt>
                <c:pt idx="1">
                  <c:v>694</c:v>
                </c:pt>
                <c:pt idx="2">
                  <c:v>1972</c:v>
                </c:pt>
                <c:pt idx="3">
                  <c:v>7944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A*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5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20×20</c:v>
                  </c:pt>
                  <c:pt idx="1">
                    <c:v>30×30</c:v>
                  </c:pt>
                  <c:pt idx="2">
                    <c:v>50×50</c:v>
                  </c:pt>
                  <c:pt idx="3">
                    <c:v>100×100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</c:v>
                </c:pt>
                <c:pt idx="1">
                  <c:v>129</c:v>
                </c:pt>
                <c:pt idx="2">
                  <c:v>268</c:v>
                </c:pt>
                <c:pt idx="3">
                  <c:v>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5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39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D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3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5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TD : comparaison de BFS (exact) et A* (heuristique) sur une grille de cheminement.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ouneselamraoui/BFS-AStar-Pathfinding-Visualizer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TD 2 · Éthique de l'IA</a:t>
            </a:r>
            <a:endParaRPr lang="en-US" sz="2200" dirty="0"/>
          </a:p>
        </p:txBody>
      </p:sp>
      <p:sp>
        <p:nvSpPr>
          <p:cNvPr id="3" name="Cadre titre"/>
          <p:cNvSpPr/>
          <p:nvPr/>
        </p:nvSpPr>
        <p:spPr>
          <a:xfrm>
            <a:off x="457200" y="914400"/>
            <a:ext cx="4114800" cy="1371600"/>
          </a:xfrm>
          <a:prstGeom prst="rect">
            <a:avLst/>
          </a:prstGeom>
          <a:solidFill>
            <a:srgbClr val="F8F7FF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BFS </a:t>
            </a:r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vs </a:t>
            </a:r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A*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60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Comparer un algorithme exact et un algorithme heuristique sur une grille de cheminement</a:t>
            </a:r>
            <a:endParaRPr lang="en-US" sz="1400" dirty="0"/>
          </a:p>
        </p:txBody>
      </p:sp>
      <p:sp>
        <p:nvSpPr>
          <p:cNvPr id="6" name="Citation"/>
          <p:cNvSpPr/>
          <p:nvPr/>
        </p:nvSpPr>
        <p:spPr>
          <a:xfrm>
            <a:off x="457200" y="347472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EFE9FF"/>
          </a:solidFill>
          <a:ln w="12700">
            <a:solidFill>
              <a:srgbClr val="EFE9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4747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Un bon algorithme ne se contente pas d'être exact : 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il explore intelligemment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 l'espace de recherche.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617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EL AMRAOUI Younes · GINF 2 · Encadré par Pr. Sara Ibn El Ahrache · ENSA Tanger · 2026/2027</a:t>
            </a:r>
            <a:endParaRPr lang="en-US" sz="900" dirty="0"/>
          </a:p>
        </p:txBody>
      </p:sp>
      <p:sp>
        <p:nvSpPr>
          <p:cNvPr id="9" name="Fond image"/>
          <p:cNvSpPr/>
          <p:nvPr/>
        </p:nvSpPr>
        <p:spPr>
          <a:xfrm>
            <a:off x="4892040" y="502920"/>
            <a:ext cx="3840480" cy="4069080"/>
          </a:xfrm>
          <a:prstGeom prst="roundRect">
            <a:avLst>
              <a:gd name="adj" fmla="val 357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Visualisation BFS et A*" descr="Exploration BFS et A* sur une gri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0"/>
            <a:ext cx="3566160" cy="2293689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pic>
      <p:sp>
        <p:nvSpPr>
          <p:cNvPr id="11" name="Text 8"/>
          <p:cNvSpPr txBox="1"/>
          <p:nvPr/>
        </p:nvSpPr>
        <p:spPr>
          <a:xfrm>
            <a:off x="5212080" y="3611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−81 %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 nœuds explorés par A* (30×30)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Contexte : que doit-on comparer ?</a:t>
            </a:r>
            <a:endParaRPr lang="en-US" sz="2800" dirty="0"/>
          </a:p>
        </p:txBody>
      </p:sp>
      <p:sp>
        <p:nvSpPr>
          <p:cNvPr id="3" name="Carte 1"/>
          <p:cNvSpPr/>
          <p:nvPr/>
        </p:nvSpPr>
        <p:spPr>
          <a:xfrm>
            <a:off x="457200" y="1234440"/>
            <a:ext cx="4480560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4" name="Carte 1 barre"/>
          <p:cNvSpPr/>
          <p:nvPr/>
        </p:nvSpPr>
        <p:spPr>
          <a:xfrm>
            <a:off x="457200" y="1252728"/>
            <a:ext cx="109728" cy="6949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44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Nœuds explorés : le coût de la recherche</a:t>
            </a:r>
            <a:endParaRPr lang="en-US" sz="1400" dirty="0"/>
          </a:p>
        </p:txBody>
      </p:sp>
      <p:sp>
        <p:nvSpPr>
          <p:cNvPr id="6" name="Carte 2"/>
          <p:cNvSpPr/>
          <p:nvPr/>
        </p:nvSpPr>
        <p:spPr>
          <a:xfrm>
            <a:off x="457200" y="2130552"/>
            <a:ext cx="4480560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7" name="Carte 2 barre"/>
          <p:cNvSpPr/>
          <p:nvPr/>
        </p:nvSpPr>
        <p:spPr>
          <a:xfrm>
            <a:off x="457200" y="2148840"/>
            <a:ext cx="109728" cy="69494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305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Temps d'exécution : la rapidité réelle</a:t>
            </a:r>
            <a:endParaRPr lang="en-US" sz="1400" dirty="0"/>
          </a:p>
        </p:txBody>
      </p:sp>
      <p:sp>
        <p:nvSpPr>
          <p:cNvPr id="9" name="Carte 3"/>
          <p:cNvSpPr/>
          <p:nvPr/>
        </p:nvSpPr>
        <p:spPr>
          <a:xfrm>
            <a:off x="457200" y="3026664"/>
            <a:ext cx="4480560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10" name="Carte 3 barre"/>
          <p:cNvSpPr/>
          <p:nvPr/>
        </p:nvSpPr>
        <p:spPr>
          <a:xfrm>
            <a:off x="457200" y="3044952"/>
            <a:ext cx="109728" cy="69494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02666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Longueur du chemin : la qualité de la solution</a:t>
            </a:r>
            <a:endParaRPr lang="en-US" sz="1400" dirty="0"/>
          </a:p>
        </p:txBody>
      </p:sp>
      <p:sp>
        <p:nvSpPr>
          <p:cNvPr id="12" name="Étiquette LE PROBLÈME"/>
          <p:cNvSpPr/>
          <p:nvPr/>
        </p:nvSpPr>
        <p:spPr>
          <a:xfrm>
            <a:off x="5394960" y="118872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E9DEFF"/>
          </a:solidFill>
          <a:ln w="12700">
            <a:solidFill>
              <a:srgbClr val="E9DE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94960" y="11887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chemeClr val="accent2"/>
                </a:solidFill>
              </a:rPr>
              <a:t>LE PROBLÈME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1645920"/>
            <a:ext cx="3291840" cy="0"/>
          </a:xfrm>
          <a:prstGeom prst="line">
            <a:avLst/>
          </a:prstGeom>
          <a:noFill/>
          <a:ln w="9525">
            <a:solidFill>
              <a:srgbClr val="D9D2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17830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Trouver un chemin du départ à l'arrivée sur une grille avec des murs.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Deux approches : BFS, algorithme exact qui explore en largeur, et A*, algorithme heuristique guidé par une estimation.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Objectif : comparer performance et qualité des solutions.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94960" y="4206240"/>
            <a:ext cx="3291840" cy="0"/>
          </a:xfrm>
          <a:prstGeom prst="line">
            <a:avLst/>
          </a:prstGeom>
          <a:noFill/>
          <a:ln w="9525">
            <a:solidFill>
              <a:srgbClr val="D9D2F0"/>
            </a:solidFill>
            <a:prstDash val="solid"/>
          </a:ln>
        </p:spPr>
      </p:sp>
      <p:sp>
        <p:nvSpPr>
          <p:cNvPr id="17" name="Bandeau source"/>
          <p:cNvSpPr/>
          <p:nvPr/>
        </p:nvSpPr>
        <p:spPr>
          <a:xfrm>
            <a:off x="457200" y="450799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6EDFB"/>
          </a:solidFill>
          <a:ln w="12700">
            <a:solidFill>
              <a:srgbClr val="E6ED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5079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Source : énoncé du TD (Pr. Sara Ibn El Ahrache, ENSA Tanger), BFS contre A* sur grille avec murs.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Une application web interactive</a:t>
            </a:r>
            <a:endParaRPr lang="en-US" sz="2800" dirty="0"/>
          </a:p>
        </p:txBody>
      </p:sp>
      <p:sp>
        <p:nvSpPr>
          <p:cNvPr id="3" name="Carte 1"/>
          <p:cNvSpPr/>
          <p:nvPr/>
        </p:nvSpPr>
        <p:spPr>
          <a:xfrm>
            <a:off x="457200" y="1188720"/>
            <a:ext cx="4572000" cy="530352"/>
          </a:xfrm>
          <a:prstGeom prst="roundRect">
            <a:avLst>
              <a:gd name="adj" fmla="val 1206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4" name="Carte 1 barre"/>
          <p:cNvSpPr/>
          <p:nvPr/>
        </p:nvSpPr>
        <p:spPr>
          <a:xfrm>
            <a:off x="457200" y="1207008"/>
            <a:ext cx="109728" cy="4937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1887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Backend Python / Flask : BFS, A*, heuristiques, grille, métriques</a:t>
            </a:r>
            <a:endParaRPr lang="en-US" sz="1200" dirty="0"/>
          </a:p>
        </p:txBody>
      </p:sp>
      <p:sp>
        <p:nvSpPr>
          <p:cNvPr id="6" name="Carte 2"/>
          <p:cNvSpPr/>
          <p:nvPr/>
        </p:nvSpPr>
        <p:spPr>
          <a:xfrm>
            <a:off x="457200" y="1810512"/>
            <a:ext cx="4572000" cy="530352"/>
          </a:xfrm>
          <a:prstGeom prst="roundRect">
            <a:avLst>
              <a:gd name="adj" fmla="val 1206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7" name="Carte 2 barre"/>
          <p:cNvSpPr/>
          <p:nvPr/>
        </p:nvSpPr>
        <p:spPr>
          <a:xfrm>
            <a:off x="457200" y="1828800"/>
            <a:ext cx="109728" cy="4937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1051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Frontend : Tailwind CSS, JavaScript, Chart.js</a:t>
            </a:r>
            <a:endParaRPr lang="en-US" sz="1200" dirty="0"/>
          </a:p>
        </p:txBody>
      </p:sp>
      <p:sp>
        <p:nvSpPr>
          <p:cNvPr id="9" name="Carte 3"/>
          <p:cNvSpPr/>
          <p:nvPr/>
        </p:nvSpPr>
        <p:spPr>
          <a:xfrm>
            <a:off x="457200" y="2432304"/>
            <a:ext cx="4572000" cy="530352"/>
          </a:xfrm>
          <a:prstGeom prst="roundRect">
            <a:avLst>
              <a:gd name="adj" fmla="val 1206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10" name="Carte 3 barre"/>
          <p:cNvSpPr/>
          <p:nvPr/>
        </p:nvSpPr>
        <p:spPr>
          <a:xfrm>
            <a:off x="457200" y="2450592"/>
            <a:ext cx="109728" cy="49377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3230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Grille avec densité de murs et seed reproductible</a:t>
            </a:r>
            <a:endParaRPr lang="en-US" sz="1200" dirty="0"/>
          </a:p>
        </p:txBody>
      </p:sp>
      <p:sp>
        <p:nvSpPr>
          <p:cNvPr id="12" name="Carte 4"/>
          <p:cNvSpPr/>
          <p:nvPr/>
        </p:nvSpPr>
        <p:spPr>
          <a:xfrm>
            <a:off x="457200" y="3054096"/>
            <a:ext cx="4572000" cy="530352"/>
          </a:xfrm>
          <a:prstGeom prst="roundRect">
            <a:avLst>
              <a:gd name="adj" fmla="val 1206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13" name="Carte 4 barre"/>
          <p:cNvSpPr/>
          <p:nvPr/>
        </p:nvSpPr>
        <p:spPr>
          <a:xfrm>
            <a:off x="457200" y="3072384"/>
            <a:ext cx="109728" cy="493776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05409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Animation côte à côte, tableau d'historique, export CSV</a:t>
            </a:r>
            <a:endParaRPr lang="en-US" sz="1200" dirty="0"/>
          </a:p>
        </p:txBody>
      </p:sp>
      <p:sp>
        <p:nvSpPr>
          <p:cNvPr id="15" name="Carte 5"/>
          <p:cNvSpPr/>
          <p:nvPr/>
        </p:nvSpPr>
        <p:spPr>
          <a:xfrm>
            <a:off x="457200" y="3675888"/>
            <a:ext cx="4572000" cy="530352"/>
          </a:xfrm>
          <a:prstGeom prst="roundRect">
            <a:avLst>
              <a:gd name="adj" fmla="val 1206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16" name="Carte 5 barre"/>
          <p:cNvSpPr/>
          <p:nvPr/>
        </p:nvSpPr>
        <p:spPr>
          <a:xfrm>
            <a:off x="457200" y="3694176"/>
            <a:ext cx="109728" cy="49377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67588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Docker Compose et 45 tests pytest</a:t>
            </a:r>
            <a:endParaRPr lang="en-US" sz="1200" dirty="0"/>
          </a:p>
        </p:txBody>
      </p:sp>
      <p:sp>
        <p:nvSpPr>
          <p:cNvPr id="18" name="Étiquette STRUCTURE"/>
          <p:cNvSpPr/>
          <p:nvPr/>
        </p:nvSpPr>
        <p:spPr>
          <a:xfrm>
            <a:off x="5394960" y="118872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E9DEFF"/>
          </a:solidFill>
          <a:ln w="12700">
            <a:solidFill>
              <a:srgbClr val="E9DE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4960" y="11887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chemeClr val="accent2"/>
                </a:solidFill>
              </a:rPr>
              <a:t>STRUCTURE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94960" y="1645920"/>
            <a:ext cx="3291840" cy="0"/>
          </a:xfrm>
          <a:prstGeom prst="line">
            <a:avLst/>
          </a:prstGeom>
          <a:noFill/>
          <a:ln w="9525">
            <a:solidFill>
              <a:srgbClr val="D9D2F0"/>
            </a:solidFill>
            <a:prstDash val="solid"/>
          </a:ln>
        </p:spPr>
      </p:sp>
      <p:pic>
        <p:nvPicPr>
          <p:cNvPr id="21" name="Structure du projet" descr="Arborescence du projet dans V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83080"/>
            <a:ext cx="1133856" cy="25603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pic>
      <p:sp>
        <p:nvSpPr>
          <p:cNvPr id="22" name="Text 19"/>
          <p:cNvSpPr txBox="1"/>
          <p:nvPr/>
        </p:nvSpPr>
        <p:spPr>
          <a:xfrm>
            <a:off x="6766560" y="182880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backend/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Flask et algorithmes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frontend/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Interface et graphiques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tests/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Tests pytest</a:t>
            </a:r>
            <a:endParaRPr lang="en-US" sz="1200" dirty="0"/>
          </a:p>
        </p:txBody>
      </p:sp>
      <p:sp>
        <p:nvSpPr>
          <p:cNvPr id="23" name="Bandeau source"/>
          <p:cNvSpPr/>
          <p:nvPr/>
        </p:nvSpPr>
        <p:spPr>
          <a:xfrm>
            <a:off x="457200" y="450799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6EDFB"/>
          </a:solidFill>
          <a:ln w="12700">
            <a:solidFill>
              <a:srgbClr val="E6EDF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45079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Code source : </a:t>
            </a:r>
            <a:pPr indent="0" marL="0">
              <a:buNone/>
            </a:pPr>
            <a:r>
              <a:rPr lang="en-US" sz="10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github.com/youneselamraoui/BFS-AStar-Pathfinding-Visualizer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Deux algorithmes, quatre heuristiques</a:t>
            </a:r>
            <a:endParaRPr lang="en-US" sz="2800" dirty="0"/>
          </a:p>
        </p:txBody>
      </p:sp>
      <p:sp>
        <p:nvSpPr>
          <p:cNvPr id="3" name="BFS (exact)"/>
          <p:cNvSpPr/>
          <p:nvPr/>
        </p:nvSpPr>
        <p:spPr>
          <a:xfrm>
            <a:off x="457200" y="1188720"/>
            <a:ext cx="4572000" cy="141732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4" name="BFS (exact) barre"/>
          <p:cNvSpPr/>
          <p:nvPr/>
        </p:nvSpPr>
        <p:spPr>
          <a:xfrm>
            <a:off x="457200" y="1207008"/>
            <a:ext cx="109728" cy="1380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258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BFS (exact)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Exploration en largeur, par couches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File FIFO en O(1)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Optimal sur coûts unitaires</a:t>
            </a:r>
            <a:endParaRPr lang="en-US" sz="1300" dirty="0"/>
          </a:p>
        </p:txBody>
      </p:sp>
      <p:sp>
        <p:nvSpPr>
          <p:cNvPr id="6" name="A* (heuristique)"/>
          <p:cNvSpPr/>
          <p:nvPr/>
        </p:nvSpPr>
        <p:spPr>
          <a:xfrm>
            <a:off x="457200" y="2788920"/>
            <a:ext cx="4572000" cy="141732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7" name="A* (heuristique) barre"/>
          <p:cNvSpPr/>
          <p:nvPr/>
        </p:nvSpPr>
        <p:spPr>
          <a:xfrm>
            <a:off x="457200" y="2807208"/>
            <a:ext cx="109728" cy="138074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260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A* (heuristique)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f(n) = g(n) + h(n)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File de priorité en O(log n)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Optimal si h est admissible</a:t>
            </a:r>
            <a:endParaRPr lang="en-US" sz="1300" dirty="0"/>
          </a:p>
        </p:txBody>
      </p:sp>
      <p:sp>
        <p:nvSpPr>
          <p:cNvPr id="9" name="Étiquette HEURISTIQUES"/>
          <p:cNvSpPr/>
          <p:nvPr/>
        </p:nvSpPr>
        <p:spPr>
          <a:xfrm>
            <a:off x="5394960" y="118872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E9DEFF"/>
          </a:solidFill>
          <a:ln w="12700">
            <a:solidFill>
              <a:srgbClr val="E9DE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0" y="11887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chemeClr val="accent2"/>
                </a:solidFill>
              </a:rPr>
              <a:t>HEURISTIQUES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645920"/>
            <a:ext cx="3291840" cy="0"/>
          </a:xfrm>
          <a:prstGeom prst="line">
            <a:avLst/>
          </a:prstGeom>
          <a:noFill/>
          <a:ln w="9525">
            <a:solidFill>
              <a:srgbClr val="D9D2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178308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Manhattan : |Δx|+|Δy|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Idéale avec 4 directions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Euclidienne : √(Δx²+Δy²)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Admissible, plus faible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Chebyshev : max(|Δx|,|Δy|)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Pour les diagonales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Zéro : h = 0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A* devient Dijkstra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4297680"/>
            <a:ext cx="3291840" cy="0"/>
          </a:xfrm>
          <a:prstGeom prst="line">
            <a:avLst/>
          </a:prstGeom>
          <a:noFill/>
          <a:ln w="9525">
            <a:solidFill>
              <a:srgbClr val="D9D2F0"/>
            </a:solidFill>
            <a:prstDash val="solid"/>
          </a:ln>
        </p:spPr>
      </p:sp>
      <p:sp>
        <p:nvSpPr>
          <p:cNvPr id="14" name="Bandeau source"/>
          <p:cNvSpPr/>
          <p:nvPr/>
        </p:nvSpPr>
        <p:spPr>
          <a:xfrm>
            <a:off x="457200" y="450799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6EDFB"/>
          </a:solidFill>
          <a:ln w="12700">
            <a:solidFill>
              <a:srgbClr val="E6ED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079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Admissible : h(n) ne surestime jamais le coût réel, ce qui garantit un chemin optimal.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Paramètres de l'expérience</a:t>
            </a:r>
            <a:endParaRPr lang="en-US" sz="2800" dirty="0"/>
          </a:p>
        </p:txBody>
      </p:sp>
      <p:sp>
        <p:nvSpPr>
          <p:cNvPr id="3" name="Cadre capture"/>
          <p:cNvSpPr/>
          <p:nvPr/>
        </p:nvSpPr>
        <p:spPr>
          <a:xfrm>
            <a:off x="457200" y="1097280"/>
            <a:ext cx="8229600" cy="2697480"/>
          </a:xfrm>
          <a:prstGeom prst="roundRect">
            <a:avLst>
              <a:gd name="adj" fmla="val 23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pic>
        <p:nvPicPr>
          <p:cNvPr id="4" name="Interface de paramétrage" descr="Interface de paramétrage : taille, densité, seed, heuris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7955280" cy="2642289"/>
          </a:xfrm>
          <a:prstGeom prst="rect">
            <a:avLst/>
          </a:prstGeom>
        </p:spPr>
      </p:pic>
      <p:sp>
        <p:nvSpPr>
          <p:cNvPr id="5" name="Paramètre 1"/>
          <p:cNvSpPr/>
          <p:nvPr/>
        </p:nvSpPr>
        <p:spPr>
          <a:xfrm>
            <a:off x="457200" y="3886200"/>
            <a:ext cx="2651760" cy="54864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6" name="Paramètre 1 barre"/>
          <p:cNvSpPr/>
          <p:nvPr/>
        </p:nvSpPr>
        <p:spPr>
          <a:xfrm>
            <a:off x="457200" y="3904488"/>
            <a:ext cx="109728" cy="5120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20 % de murs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Densité fixe</a:t>
            </a:r>
            <a:endParaRPr lang="en-US" sz="1300" dirty="0"/>
          </a:p>
        </p:txBody>
      </p:sp>
      <p:sp>
        <p:nvSpPr>
          <p:cNvPr id="8" name="Paramètre 2"/>
          <p:cNvSpPr/>
          <p:nvPr/>
        </p:nvSpPr>
        <p:spPr>
          <a:xfrm>
            <a:off x="3246120" y="3886200"/>
            <a:ext cx="2651760" cy="54864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9" name="Paramètre 2 barre"/>
          <p:cNvSpPr/>
          <p:nvPr/>
        </p:nvSpPr>
        <p:spPr>
          <a:xfrm>
            <a:off x="3246120" y="3904488"/>
            <a:ext cx="109728" cy="5120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Seed 42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Grille reproductible, comparaison équitable</a:t>
            </a:r>
            <a:endParaRPr lang="en-US" sz="1300" dirty="0"/>
          </a:p>
        </p:txBody>
      </p:sp>
      <p:sp>
        <p:nvSpPr>
          <p:cNvPr id="11" name="Paramètre 3"/>
          <p:cNvSpPr/>
          <p:nvPr/>
        </p:nvSpPr>
        <p:spPr>
          <a:xfrm>
            <a:off x="6035040" y="3886200"/>
            <a:ext cx="2651760" cy="548640"/>
          </a:xfrm>
          <a:prstGeom prst="roundRect">
            <a:avLst>
              <a:gd name="adj" fmla="val 11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12" name="Paramètre 3 barre"/>
          <p:cNvSpPr/>
          <p:nvPr/>
        </p:nvSpPr>
        <p:spPr>
          <a:xfrm>
            <a:off x="6035040" y="3904488"/>
            <a:ext cx="109728" cy="5120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 à 100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Taille de la grille testée</a:t>
            </a:r>
            <a:endParaRPr lang="en-US" sz="1300" dirty="0"/>
          </a:p>
        </p:txBody>
      </p:sp>
      <p:sp>
        <p:nvSpPr>
          <p:cNvPr id="14" name="Bandeau source"/>
          <p:cNvSpPr/>
          <p:nvPr/>
        </p:nvSpPr>
        <p:spPr>
          <a:xfrm>
            <a:off x="457200" y="450799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6EDFB"/>
          </a:solidFill>
          <a:ln w="12700">
            <a:solidFill>
              <a:srgbClr val="E6ED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5079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 même seed reproduit exactement la même grille : BFS et A* sont comparés dans des conditions identiques.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Visualisation : grille 30×30</a:t>
            </a:r>
            <a:endParaRPr lang="en-US" sz="2800" dirty="0"/>
          </a:p>
        </p:txBody>
      </p:sp>
      <p:sp>
        <p:nvSpPr>
          <p:cNvPr id="3" name="Cadre capture"/>
          <p:cNvSpPr/>
          <p:nvPr/>
        </p:nvSpPr>
        <p:spPr>
          <a:xfrm>
            <a:off x="457200" y="1097280"/>
            <a:ext cx="5120640" cy="3291840"/>
          </a:xfrm>
          <a:prstGeom prst="roundRect">
            <a:avLst>
              <a:gd name="adj" fmla="val 194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pic>
        <p:nvPicPr>
          <p:cNvPr id="4" name="Visualisation 30x30" descr="Exploration BFS et A* sur une grille 30x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4846320" cy="3117065"/>
          </a:xfrm>
          <a:prstGeom prst="rect">
            <a:avLst/>
          </a:prstGeom>
        </p:spPr>
      </p:pic>
      <p:sp>
        <p:nvSpPr>
          <p:cNvPr id="5" name="Étiquette LECTURE"/>
          <p:cNvSpPr/>
          <p:nvPr/>
        </p:nvSpPr>
        <p:spPr>
          <a:xfrm>
            <a:off x="5943600" y="118872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E9DEFF"/>
          </a:solidFill>
          <a:ln w="12700">
            <a:solidFill>
              <a:srgbClr val="E9DE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1887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chemeClr val="accent2"/>
                </a:solidFill>
              </a:rPr>
              <a:t>LECTURE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0" y="1645920"/>
            <a:ext cx="2743200" cy="0"/>
          </a:xfrm>
          <a:prstGeom prst="line">
            <a:avLst/>
          </a:prstGeom>
          <a:noFill/>
          <a:ln w="9525">
            <a:solidFill>
              <a:srgbClr val="D9D2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17830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BFS (à gauche)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Explore une large zone autour du départ.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A* (à droite)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 concentre vers l'arrivée.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Même chemin final : longueur 58.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4297680"/>
            <a:ext cx="2743200" cy="0"/>
          </a:xfrm>
          <a:prstGeom prst="line">
            <a:avLst/>
          </a:prstGeom>
          <a:noFill/>
          <a:ln w="9525">
            <a:solidFill>
              <a:srgbClr val="D9D2F0"/>
            </a:solidFill>
            <a:prstDash val="solid"/>
          </a:ln>
        </p:spPr>
      </p:sp>
      <p:sp>
        <p:nvSpPr>
          <p:cNvPr id="10" name="Bandeau source"/>
          <p:cNvSpPr/>
          <p:nvPr/>
        </p:nvSpPr>
        <p:spPr>
          <a:xfrm>
            <a:off x="457200" y="450799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6EDFB"/>
          </a:solidFill>
          <a:ln w="12700">
            <a:solidFill>
              <a:srgbClr val="E6ED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45079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Capture prise pendant l'animation : les compteurs affichés sont partiels, les valeurs finales figurent dans le tableau.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Visualisation : grille 100×100</a:t>
            </a:r>
            <a:endParaRPr lang="en-US" sz="2800" dirty="0"/>
          </a:p>
        </p:txBody>
      </p:sp>
      <p:sp>
        <p:nvSpPr>
          <p:cNvPr id="3" name="Cadre capture"/>
          <p:cNvSpPr/>
          <p:nvPr/>
        </p:nvSpPr>
        <p:spPr>
          <a:xfrm>
            <a:off x="457200" y="1097280"/>
            <a:ext cx="5394960" cy="3291840"/>
          </a:xfrm>
          <a:prstGeom prst="roundRect">
            <a:avLst>
              <a:gd name="adj" fmla="val 194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pic>
        <p:nvPicPr>
          <p:cNvPr id="4" name="Visualisation 100x100" descr="Chemins BFS et A* sur une grille 100x1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5120640" cy="3025995"/>
          </a:xfrm>
          <a:prstGeom prst="rect">
            <a:avLst/>
          </a:prstGeom>
        </p:spPr>
      </p:pic>
      <p:sp>
        <p:nvSpPr>
          <p:cNvPr id="5" name="Étiquette LECTURE"/>
          <p:cNvSpPr/>
          <p:nvPr/>
        </p:nvSpPr>
        <p:spPr>
          <a:xfrm>
            <a:off x="6217920" y="118872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E9DEFF"/>
          </a:solidFill>
          <a:ln w="12700">
            <a:solidFill>
              <a:srgbClr val="E9DE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0" y="11887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chemeClr val="accent2"/>
                </a:solidFill>
              </a:rPr>
              <a:t>LECTURE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17920" y="1645920"/>
            <a:ext cx="2468880" cy="0"/>
          </a:xfrm>
          <a:prstGeom prst="line">
            <a:avLst/>
          </a:prstGeom>
          <a:noFill/>
          <a:ln w="9525">
            <a:solidFill>
              <a:srgbClr val="D9D2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17830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Chemin de longueur 198 pour les deux algorithmes.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L'écart se joue sur le coût de la recherche : 7944 nœuds pour BFS contre 999 pour A*.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4297680"/>
            <a:ext cx="2468880" cy="0"/>
          </a:xfrm>
          <a:prstGeom prst="line">
            <a:avLst/>
          </a:prstGeom>
          <a:noFill/>
          <a:ln w="9525">
            <a:solidFill>
              <a:srgbClr val="D9D2F0"/>
            </a:solidFill>
            <a:prstDash val="solid"/>
          </a:ln>
        </p:spPr>
      </p:sp>
      <p:sp>
        <p:nvSpPr>
          <p:cNvPr id="10" name="Bandeau source"/>
          <p:cNvSpPr/>
          <p:nvPr/>
        </p:nvSpPr>
        <p:spPr>
          <a:xfrm>
            <a:off x="457200" y="450799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6EDFB"/>
          </a:solidFill>
          <a:ln w="12700">
            <a:solidFill>
              <a:srgbClr val="E6ED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45079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Les deux algorithmes trouvent la même solution optimale ; A* y arrive en explorant beaucoup moins de cases.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Tableau comparatif (heuristique Manhattan)</a:t>
            </a:r>
            <a:endParaRPr lang="en-US" sz="2800" dirty="0"/>
          </a:p>
        </p:txBody>
      </p:sp>
      <p:graphicFrame>
        <p:nvGraphicFramePr>
          <p:cNvPr id="9" name="Tableau comparati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  <a:gridCol w="109728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Grille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Nœuds BFS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Nœuds A*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Temps BFS (ms)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Temps A* (ms)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Longueur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Réduction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20×20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311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0,433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0,229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79,1 %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30×30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694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1,044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0,620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81,4 %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50×50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1972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2,751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0,568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86,4 %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100×100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7944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999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11,832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2,750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87,4 %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4" name="Statistique 1"/>
          <p:cNvSpPr/>
          <p:nvPr/>
        </p:nvSpPr>
        <p:spPr>
          <a:xfrm>
            <a:off x="457200" y="3108960"/>
            <a:ext cx="2651760" cy="118872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5" name="Statistique 1 barre"/>
          <p:cNvSpPr/>
          <p:nvPr/>
        </p:nvSpPr>
        <p:spPr>
          <a:xfrm>
            <a:off x="457200" y="3127248"/>
            <a:ext cx="109728" cy="11521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3108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−79 % à −87 %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 nœuds explorés avec A*</a:t>
            </a:r>
            <a:endParaRPr lang="en-US" sz="1300" dirty="0"/>
          </a:p>
        </p:txBody>
      </p:sp>
      <p:sp>
        <p:nvSpPr>
          <p:cNvPr id="7" name="Statistique 2"/>
          <p:cNvSpPr/>
          <p:nvPr/>
        </p:nvSpPr>
        <p:spPr>
          <a:xfrm>
            <a:off x="3246120" y="3108960"/>
            <a:ext cx="2651760" cy="118872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8" name="Statistique 2 barre"/>
          <p:cNvSpPr/>
          <p:nvPr/>
        </p:nvSpPr>
        <p:spPr>
          <a:xfrm>
            <a:off x="3246120" y="3127248"/>
            <a:ext cx="109728" cy="115214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20440" y="3108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≈ ×4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plus rapide sur 100×100</a:t>
            </a:r>
            <a:endParaRPr lang="en-US" sz="1300" dirty="0"/>
          </a:p>
        </p:txBody>
      </p:sp>
      <p:sp>
        <p:nvSpPr>
          <p:cNvPr id="10" name="Statistique 3"/>
          <p:cNvSpPr/>
          <p:nvPr/>
        </p:nvSpPr>
        <p:spPr>
          <a:xfrm>
            <a:off x="6035040" y="3108960"/>
            <a:ext cx="2651760" cy="118872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11" name="Statistique 3 barre"/>
          <p:cNvSpPr/>
          <p:nvPr/>
        </p:nvSpPr>
        <p:spPr>
          <a:xfrm>
            <a:off x="6035040" y="3127248"/>
            <a:ext cx="109728" cy="11521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3108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Identique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longueur : solution optimale</a:t>
            </a:r>
            <a:endParaRPr lang="en-US" sz="1300" dirty="0"/>
          </a:p>
        </p:txBody>
      </p:sp>
      <p:sp>
        <p:nvSpPr>
          <p:cNvPr id="13" name="Bandeau source"/>
          <p:cNvSpPr/>
          <p:nvPr/>
        </p:nvSpPr>
        <p:spPr>
          <a:xfrm>
            <a:off x="457200" y="450799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6EDFB"/>
          </a:solidFill>
          <a:ln w="12700">
            <a:solidFill>
              <a:srgbClr val="E6ED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5079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Avec l'heuristique zéro sur 30×30, A* explore 694 nœuds comme BFS (réduction de 0 %).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L'écart augmente avec la taille de la grille</a:t>
            </a:r>
            <a:endParaRPr lang="en-US" sz="2800" dirty="0"/>
          </a:p>
        </p:txBody>
      </p:sp>
      <p:sp>
        <p:nvSpPr>
          <p:cNvPr id="3" name="Cadre graphique"/>
          <p:cNvSpPr/>
          <p:nvPr/>
        </p:nvSpPr>
        <p:spPr>
          <a:xfrm>
            <a:off x="457200" y="1097280"/>
            <a:ext cx="5303520" cy="3291840"/>
          </a:xfrm>
          <a:prstGeom prst="roundRect">
            <a:avLst>
              <a:gd name="adj" fmla="val 194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Étiquette OBSERVATIONS"/>
          <p:cNvSpPr/>
          <p:nvPr/>
        </p:nvSpPr>
        <p:spPr>
          <a:xfrm>
            <a:off x="6126480" y="118872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E9DEFF"/>
          </a:solidFill>
          <a:ln w="12700">
            <a:solidFill>
              <a:srgbClr val="E9DE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1887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chemeClr val="accent2"/>
                </a:solidFill>
              </a:rPr>
              <a:t>OBSERVATIONS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26480" y="1645920"/>
            <a:ext cx="2560320" cy="0"/>
          </a:xfrm>
          <a:prstGeom prst="line">
            <a:avLst/>
          </a:prstGeom>
          <a:noFill/>
          <a:ln w="9525">
            <a:solidFill>
              <a:srgbClr val="D9D2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7830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BFS : de 311 à 7944 nœuds (×25)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A* : de 65 à 999 nœuds (×15)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Temps sur 100×100 : 11,8 ms contre 2,75 ms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4297680"/>
            <a:ext cx="2560320" cy="0"/>
          </a:xfrm>
          <a:prstGeom prst="line">
            <a:avLst/>
          </a:prstGeom>
          <a:noFill/>
          <a:ln w="9525">
            <a:solidFill>
              <a:srgbClr val="D9D2F0"/>
            </a:solidFill>
            <a:prstDash val="solid"/>
          </a:ln>
        </p:spPr>
      </p:sp>
      <p:sp>
        <p:nvSpPr>
          <p:cNvPr id="10" name="Bandeau source"/>
          <p:cNvSpPr/>
          <p:nvPr/>
        </p:nvSpPr>
        <p:spPr>
          <a:xfrm>
            <a:off x="457200" y="450799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6EDFB"/>
          </a:solidFill>
          <a:ln w="12700">
            <a:solidFill>
              <a:srgbClr val="E6ED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45079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Les temps d'exécution sont bruités : le nombre de nœuds explorés est l'indicateur le plus fiable.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 rôle de l'heuristique</a:t>
            </a:r>
            <a:endParaRPr lang="en-US" sz="2800" dirty="0"/>
          </a:p>
        </p:txBody>
      </p:sp>
      <p:sp>
        <p:nvSpPr>
          <p:cNvPr id="3" name="Cadre capture"/>
          <p:cNvSpPr/>
          <p:nvPr/>
        </p:nvSpPr>
        <p:spPr>
          <a:xfrm>
            <a:off x="914400" y="1097280"/>
            <a:ext cx="7315200" cy="1600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pic>
        <p:nvPicPr>
          <p:cNvPr id="4" name="Résultat Chebyshev" descr="Heuristique Chebyshev : 7944 nœuds BFS, 7384 nœuds A*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88720"/>
            <a:ext cx="6858000" cy="1249680"/>
          </a:xfrm>
          <a:prstGeom prst="rect">
            <a:avLst/>
          </a:prstGeom>
        </p:spPr>
      </p:pic>
      <p:sp>
        <p:nvSpPr>
          <p:cNvPr id="5" name="Heuristique Zéro"/>
          <p:cNvSpPr/>
          <p:nvPr/>
        </p:nvSpPr>
        <p:spPr>
          <a:xfrm>
            <a:off x="457200" y="2880360"/>
            <a:ext cx="2651760" cy="150876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6" name="Heuristique Zéro barre"/>
          <p:cNvSpPr/>
          <p:nvPr/>
        </p:nvSpPr>
        <p:spPr>
          <a:xfrm>
            <a:off x="457200" y="2898648"/>
            <a:ext cx="109728" cy="147218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9260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Zéro</a:t>
            </a:r>
            <a:endParaRPr lang="en-US" sz="13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= BFS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Aucune information : 694 nœuds sur 30×30</a:t>
            </a:r>
            <a:endParaRPr lang="en-US" sz="1300" dirty="0"/>
          </a:p>
        </p:txBody>
      </p:sp>
      <p:sp>
        <p:nvSpPr>
          <p:cNvPr id="8" name="Heuristique Chebyshev"/>
          <p:cNvSpPr/>
          <p:nvPr/>
        </p:nvSpPr>
        <p:spPr>
          <a:xfrm>
            <a:off x="3246120" y="2880360"/>
            <a:ext cx="2651760" cy="150876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9" name="Heuristique Chebyshev barre"/>
          <p:cNvSpPr/>
          <p:nvPr/>
        </p:nvSpPr>
        <p:spPr>
          <a:xfrm>
            <a:off x="3246120" y="2898648"/>
            <a:ext cx="109728" cy="147218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29260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Chebyshev</a:t>
            </a:r>
            <a:endParaRPr lang="en-US" sz="13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7384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Admissible mais peu informée sans diagonales</a:t>
            </a:r>
            <a:endParaRPr lang="en-US" sz="1300" dirty="0"/>
          </a:p>
        </p:txBody>
      </p:sp>
      <p:sp>
        <p:nvSpPr>
          <p:cNvPr id="11" name="Heuristique Manhattan"/>
          <p:cNvSpPr/>
          <p:nvPr/>
        </p:nvSpPr>
        <p:spPr>
          <a:xfrm>
            <a:off x="6035040" y="2880360"/>
            <a:ext cx="2651760" cy="150876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12" name="Heuristique Manhattan barre"/>
          <p:cNvSpPr/>
          <p:nvPr/>
        </p:nvSpPr>
        <p:spPr>
          <a:xfrm>
            <a:off x="6035040" y="2898648"/>
            <a:ext cx="109728" cy="14721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29260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Manhattan</a:t>
            </a:r>
            <a:endParaRPr lang="en-US" sz="13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999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Proche du coût réel : exploration minimale</a:t>
            </a:r>
            <a:endParaRPr lang="en-US" sz="1300" dirty="0"/>
          </a:p>
        </p:txBody>
      </p:sp>
      <p:sp>
        <p:nvSpPr>
          <p:cNvPr id="14" name="Bandeau source"/>
          <p:cNvSpPr/>
          <p:nvPr/>
        </p:nvSpPr>
        <p:spPr>
          <a:xfrm>
            <a:off x="457200" y="450799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6EDFB"/>
          </a:solidFill>
          <a:ln w="12700">
            <a:solidFill>
              <a:srgbClr val="E6ED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5079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Mesures sur la grille 100×100 (Chebyshev et Manhattan) et 30×30 (heuristique zéro). BFS : 7944 nœuds sur 100×100.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Réponses aux questions du TD</a:t>
            </a:r>
            <a:endParaRPr lang="en-US" sz="2800" dirty="0"/>
          </a:p>
        </p:txBody>
      </p:sp>
      <p:sp>
        <p:nvSpPr>
          <p:cNvPr id="3" name="Question 1"/>
          <p:cNvSpPr/>
          <p:nvPr/>
        </p:nvSpPr>
        <p:spPr>
          <a:xfrm>
            <a:off x="457200" y="1143000"/>
            <a:ext cx="8229600" cy="9601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4" name="Question 1 barre"/>
          <p:cNvSpPr/>
          <p:nvPr/>
        </p:nvSpPr>
        <p:spPr>
          <a:xfrm>
            <a:off x="457200" y="1161288"/>
            <a:ext cx="109728" cy="9235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1430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Pourquoi A* est plus efficace 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1430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Il classe les nœuds par f = g + h et développe d'abord ceux qui rapprochent de l'arrivée : il ignore une grande partie de la grille, avec le même chemin optimal.</a:t>
            </a:r>
            <a:endParaRPr lang="en-US" sz="1200" dirty="0"/>
          </a:p>
        </p:txBody>
      </p:sp>
      <p:sp>
        <p:nvSpPr>
          <p:cNvPr id="7" name="Question 2"/>
          <p:cNvSpPr/>
          <p:nvPr/>
        </p:nvSpPr>
        <p:spPr>
          <a:xfrm>
            <a:off x="457200" y="2240280"/>
            <a:ext cx="8229600" cy="9601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8" name="Question 2 barre"/>
          <p:cNvSpPr/>
          <p:nvPr/>
        </p:nvSpPr>
        <p:spPr>
          <a:xfrm>
            <a:off x="457200" y="2258568"/>
            <a:ext cx="109728" cy="92354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2402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Quel rôle joue l'heuristique 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2402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Elle guide la recherche. Admissible, elle garantit l'optimalité. Plus elle est proche du coût réel, moins A* explore. Avec h = 0, elle ne guide plus.</a:t>
            </a:r>
            <a:endParaRPr lang="en-US" sz="1200" dirty="0"/>
          </a:p>
        </p:txBody>
      </p:sp>
      <p:sp>
        <p:nvSpPr>
          <p:cNvPr id="11" name="Question 3"/>
          <p:cNvSpPr/>
          <p:nvPr/>
        </p:nvSpPr>
        <p:spPr>
          <a:xfrm>
            <a:off x="457200" y="3337560"/>
            <a:ext cx="8229600" cy="9601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12" name="Question 3 barre"/>
          <p:cNvSpPr/>
          <p:nvPr/>
        </p:nvSpPr>
        <p:spPr>
          <a:xfrm>
            <a:off x="457200" y="3355848"/>
            <a:ext cx="109728" cy="9235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375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Quand BFS est-il préférable 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33756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Sans heuristique fiable, sur un petit graphe, ou pour un besoin de simplicité. Il donne aussi les distances vers toutes les cibles en un seul parcours.</a:t>
            </a:r>
            <a:endParaRPr lang="en-US" sz="1200" dirty="0"/>
          </a:p>
        </p:txBody>
      </p:sp>
      <p:sp>
        <p:nvSpPr>
          <p:cNvPr id="15" name="Bandeau source"/>
          <p:cNvSpPr/>
          <p:nvPr/>
        </p:nvSpPr>
        <p:spPr>
          <a:xfrm>
            <a:off x="457200" y="450799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6EDFB"/>
          </a:solidFill>
          <a:ln w="12700">
            <a:solidFill>
              <a:srgbClr val="E6E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5079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Réponses fondées sur les mesures obtenues avec l'application (tableau comparatif et graphiques).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Carte 1"/>
          <p:cNvSpPr/>
          <p:nvPr/>
        </p:nvSpPr>
        <p:spPr>
          <a:xfrm>
            <a:off x="457200" y="1188720"/>
            <a:ext cx="4572000" cy="6858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4" name="Carte 1 barre"/>
          <p:cNvSpPr/>
          <p:nvPr/>
        </p:nvSpPr>
        <p:spPr>
          <a:xfrm>
            <a:off x="457200" y="1207008"/>
            <a:ext cx="109728" cy="64922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1887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BFS et A* trouvent des chemins de même longueur, optimaux</a:t>
            </a:r>
            <a:endParaRPr lang="en-US" sz="1300" dirty="0"/>
          </a:p>
        </p:txBody>
      </p:sp>
      <p:sp>
        <p:nvSpPr>
          <p:cNvPr id="6" name="Carte 2"/>
          <p:cNvSpPr/>
          <p:nvPr/>
        </p:nvSpPr>
        <p:spPr>
          <a:xfrm>
            <a:off x="457200" y="2011680"/>
            <a:ext cx="4572000" cy="6858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7" name="Carte 2 barre"/>
          <p:cNvSpPr/>
          <p:nvPr/>
        </p:nvSpPr>
        <p:spPr>
          <a:xfrm>
            <a:off x="457200" y="2029968"/>
            <a:ext cx="109728" cy="64922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116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A* (Manhattan) explore 79 % à 87 % de nœuds en moins</a:t>
            </a:r>
            <a:endParaRPr lang="en-US" sz="1300" dirty="0"/>
          </a:p>
        </p:txBody>
      </p:sp>
      <p:sp>
        <p:nvSpPr>
          <p:cNvPr id="9" name="Carte 3"/>
          <p:cNvSpPr/>
          <p:nvPr/>
        </p:nvSpPr>
        <p:spPr>
          <a:xfrm>
            <a:off x="457200" y="2834640"/>
            <a:ext cx="4572000" cy="6858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10" name="Carte 3 barre"/>
          <p:cNvSpPr/>
          <p:nvPr/>
        </p:nvSpPr>
        <p:spPr>
          <a:xfrm>
            <a:off x="457200" y="2852928"/>
            <a:ext cx="109728" cy="64922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34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Son avantage grandit avec la taille et dépend de l'heuristique</a:t>
            </a:r>
            <a:endParaRPr lang="en-US" sz="1300" dirty="0"/>
          </a:p>
        </p:txBody>
      </p:sp>
      <p:sp>
        <p:nvSpPr>
          <p:cNvPr id="12" name="Carte 4"/>
          <p:cNvSpPr/>
          <p:nvPr/>
        </p:nvSpPr>
        <p:spPr>
          <a:xfrm>
            <a:off x="457200" y="3657600"/>
            <a:ext cx="4572000" cy="6858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7C6AB8">
                <a:alpha val="18000"/>
              </a:srgbClr>
            </a:outerShdw>
          </a:effectLst>
        </p:spPr>
      </p:sp>
      <p:sp>
        <p:nvSpPr>
          <p:cNvPr id="13" name="Carte 4 barre"/>
          <p:cNvSpPr/>
          <p:nvPr/>
        </p:nvSpPr>
        <p:spPr>
          <a:xfrm>
            <a:off x="457200" y="3675888"/>
            <a:ext cx="109728" cy="64922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6576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BFS reste adapté aux petits problèmes et à la simplicité</a:t>
            </a:r>
            <a:endParaRPr lang="en-US" sz="1300" dirty="0"/>
          </a:p>
        </p:txBody>
      </p:sp>
      <p:sp>
        <p:nvSpPr>
          <p:cNvPr id="15" name="Étiquette LIEN ÉTHIQUE"/>
          <p:cNvSpPr/>
          <p:nvPr/>
        </p:nvSpPr>
        <p:spPr>
          <a:xfrm>
            <a:off x="5394960" y="118872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E9DEFF"/>
          </a:solidFill>
          <a:ln w="12700">
            <a:solidFill>
              <a:srgbClr val="E9DE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4960" y="11887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chemeClr val="accent2"/>
                </a:solidFill>
              </a:rPr>
              <a:t>LIEN ÉTHIQUE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1645920"/>
            <a:ext cx="3291840" cy="0"/>
          </a:xfrm>
          <a:prstGeom prst="line">
            <a:avLst/>
          </a:prstGeom>
          <a:noFill/>
          <a:ln w="9525">
            <a:solidFill>
              <a:srgbClr val="D9D2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94960" y="178308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Une connaissance ajoutée (l'heuristique) accélère la décision, mais sa qualité conditionne le résultat.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Il faut documenter les hypothèses, vérifier les garanties et mesurer.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Ces algorithmes restent explicables : chaque étape est visualisable.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94960" y="4297680"/>
            <a:ext cx="3291840" cy="0"/>
          </a:xfrm>
          <a:prstGeom prst="line">
            <a:avLst/>
          </a:prstGeom>
          <a:noFill/>
          <a:ln w="9525">
            <a:solidFill>
              <a:srgbClr val="D9D2F0"/>
            </a:solidFill>
            <a:prstDash val="solid"/>
          </a:ln>
        </p:spPr>
      </p:sp>
      <p:sp>
        <p:nvSpPr>
          <p:cNvPr id="20" name="Bandeau source"/>
          <p:cNvSpPr/>
          <p:nvPr/>
        </p:nvSpPr>
        <p:spPr>
          <a:xfrm>
            <a:off x="457200" y="450799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6EDFB"/>
          </a:solidFill>
          <a:ln w="12700">
            <a:solidFill>
              <a:srgbClr val="E6ED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50799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Merci de votre attention.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Skill">
  <a:themeElements>
    <a:clrScheme name="SoftSkill">
      <a:dk1>
        <a:srgbClr val="1B2A5E"/>
      </a:dk1>
      <a:lt1>
        <a:srgbClr val="FFFFFF"/>
      </a:lt1>
      <a:dk2>
        <a:srgbClr val="1B2A5E"/>
      </a:dk2>
      <a:lt2>
        <a:srgbClr val="F3F0FF"/>
      </a:lt2>
      <a:accent1>
        <a:srgbClr val="1BB5F0"/>
      </a:accent1>
      <a:accent2>
        <a:srgbClr val="8B5CF6"/>
      </a:accent2>
      <a:accent3>
        <a:srgbClr val="9BD3F5"/>
      </a:accent3>
      <a:accent4>
        <a:srgbClr val="C48BEA"/>
      </a:accent4>
      <a:accent5>
        <a:srgbClr val="B9A3DB"/>
      </a:accent5>
      <a:accent6>
        <a:srgbClr val="6B7390"/>
      </a:accent6>
      <a:hlink>
        <a:srgbClr val="8B5CF6"/>
      </a:hlink>
      <a:folHlink>
        <a:srgbClr val="6B7390"/>
      </a:folHlink>
    </a:clrScheme>
    <a:fontScheme name="SoftSkil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BFS vs A* - TD 2 Éthique de l'IA</dc:title>
  <dc:subject>PptxGenJS Presentation</dc:subject>
  <dc:creator>Younes EL AMRAOUI</dc:creator>
  <cp:lastModifiedBy>Younes EL AMRAOUI</cp:lastModifiedBy>
  <cp:revision>1</cp:revision>
  <dcterms:created xsi:type="dcterms:W3CDTF">2026-10-21T20:42:31Z</dcterms:created>
  <dcterms:modified xsi:type="dcterms:W3CDTF">2026-10-21T20:42:31Z</dcterms:modified>
</cp:coreProperties>
</file>